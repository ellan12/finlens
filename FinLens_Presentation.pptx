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(treated)</c:v>
                </c:pt>
              </c:strCache>
            </c:strRef>
          </c:tx>
          <c:spPr>
            <a:solidFill>
              <a:srgbClr val="1F77B4"/>
            </a:solidFill>
            <a:ln w="381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51.7</c:v>
                </c:pt>
                <c:pt idx="1">
                  <c:v>56</c:v>
                </c:pt>
                <c:pt idx="2">
                  <c:v>55.3</c:v>
                </c:pt>
                <c:pt idx="3">
                  <c:v>59.5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avg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49.7</c:v>
                </c:pt>
                <c:pt idx="1">
                  <c:v>52.5</c:v>
                </c:pt>
                <c:pt idx="2">
                  <c:v>51.5</c:v>
                </c:pt>
                <c:pt idx="3">
                  <c:v>54.1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 (pp)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 (CCPA 2020)</c:v>
                  </c:pt>
                  <c:pt idx="1">
                    <c:v>VA (VCDPA 2023)</c:v>
                  </c:pt>
                  <c:pt idx="2">
                    <c:v>CO (CPA 2023)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3.24</c:v>
                </c:pt>
                <c:pt idx="1">
                  <c:v>1.8</c:v>
                </c:pt>
                <c:pt idx="2">
                  <c:v>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ATT (pp)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β coefficient (pp)</c:v>
                </c:pt>
              </c:strCache>
            </c:strRef>
          </c:tx>
          <c:spPr>
            <a:solidFill>
              <a:srgbClr val="1F77B4"/>
            </a:solidFill>
            <a:ln w="381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t−4</c:v>
                  </c:pt>
                  <c:pt idx="1">
                    <c:v>t−3</c:v>
                  </c:pt>
                  <c:pt idx="2">
                    <c:v>t−2</c:v>
                  </c:pt>
                  <c:pt idx="3">
                    <c:v>t−1
(ref)</c:v>
                  </c:pt>
                  <c:pt idx="4">
                    <c:v>t0</c:v>
                  </c:pt>
                  <c:pt idx="5">
                    <c:v>t+1</c:v>
                  </c:pt>
                  <c:pt idx="6">
                    <c:v>t+2</c:v>
                  </c:pt>
                  <c:pt idx="7">
                    <c:v>t+3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-0.8</c:v>
                </c:pt>
                <c:pt idx="1">
                  <c:v>0.4</c:v>
                </c:pt>
                <c:pt idx="2">
                  <c:v>-0.3</c:v>
                </c:pt>
                <c:pt idx="3">
                  <c:v>0</c:v>
                </c:pt>
                <c:pt idx="4">
                  <c:v>-1.2</c:v>
                </c:pt>
                <c:pt idx="5">
                  <c:v>2.1</c:v>
                </c:pt>
                <c:pt idx="6">
                  <c:v>3.8</c:v>
                </c:pt>
                <c:pt idx="7">
                  <c:v>4.5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 (pp)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27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High (ref)</c:v>
                  </c:pt>
                  <c:pt idx="1">
                    <c:v>Middle</c:v>
                  </c:pt>
                  <c:pt idx="2">
                    <c:v>Moderate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3.85</c:v>
                </c:pt>
                <c:pt idx="1">
                  <c:v>4.42</c:v>
                </c:pt>
                <c:pt idx="2">
                  <c:v>2.08</c:v>
                </c:pt>
                <c:pt idx="3">
                  <c:v>1.32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finlens-app-360526413047.us-central1.run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1F77B4">
              <a:alpha val="45000"/>
            </a:srgbClr>
          </a:solidFill>
          <a:ln w="12700">
            <a:solidFill>
              <a:srgbClr val="1F77B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0" cy="2743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RESEARCH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FinLens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E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Mortgage Analytics &amp; Privacy Law Impact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8833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4F0"/>
                </a:solidFill>
              </a:rPr>
              <a:t>Causal Inference on CCPA / VCDPA / CPA Effects on US Mortgage Lending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</a:rPr>
              <a:t>HMDA (CFPB) 2018 – 2023  ·  FRED Macro Controls  ·  States: CA · TX · FL · OH · NY · 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84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0"/>
                </a:solidFill>
              </a:rPr>
              <a:t>Live Demo:</a:t>
            </a:r>
            <a:endParaRPr lang="en-US" sz="11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1572768" y="35844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F77B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https://finlens-app-360526413047.us-central1.run.app/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325880" cy="292608"/>
          </a:xfrm>
          <a:prstGeom prst="rect">
            <a:avLst/>
          </a:prstGeom>
          <a:solidFill>
            <a:srgbClr val="0F2447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490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4D0"/>
                </a:solidFill>
              </a:rPr>
              <a:t>BigQuery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3749040"/>
            <a:ext cx="1325880" cy="292608"/>
          </a:xfrm>
          <a:prstGeom prst="rect">
            <a:avLst/>
          </a:prstGeom>
          <a:solidFill>
            <a:srgbClr val="0F2447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37490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4D0"/>
                </a:solidFill>
              </a:rPr>
              <a:t>dbt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3749040"/>
            <a:ext cx="1325880" cy="292608"/>
          </a:xfrm>
          <a:prstGeom prst="rect">
            <a:avLst/>
          </a:prstGeom>
          <a:solidFill>
            <a:srgbClr val="0F2447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7490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4D0"/>
                </a:solidFill>
              </a:rPr>
              <a:t>Airflow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749040"/>
            <a:ext cx="1325880" cy="292608"/>
          </a:xfrm>
          <a:prstGeom prst="rect">
            <a:avLst/>
          </a:prstGeom>
          <a:solidFill>
            <a:srgbClr val="0F2447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7490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4D0"/>
                </a:solidFill>
              </a:rPr>
              <a:t>Streamlit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1325880" cy="292608"/>
          </a:xfrm>
          <a:prstGeom prst="rect">
            <a:avLst/>
          </a:prstGeom>
          <a:solidFill>
            <a:srgbClr val="0F2447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7490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4D0"/>
                </a:solidFill>
              </a:rPr>
              <a:t>statsmodels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A1A35"/>
          </a:solidFill>
          <a:ln w="12700">
            <a:solidFill>
              <a:srgbClr val="0A1A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36592"/>
            <a:ext cx="8229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FAF"/>
                </a:solidFill>
              </a:rPr>
              <a:t>FinLens  ·  Privacy Law Impact Study  ·  HMDA 2018–2023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Research Question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consumer data privacy laws affect mortgage lending access?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4114800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</a:rPr>
              <a:t>① Aggregate Effect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Does CCPA reduce overall mortgage approval rates in California relative to control states (TX, FL, OH)?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89888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89888"/>
            <a:ext cx="4114800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</a:rPr>
              <a:t>② Distributional Effect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Does the impact fall disproportionately on lower-income borrowers — widening the credit-access gap by income?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Three Privacy Laws Studied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73552"/>
            <a:ext cx="2651760" cy="54864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3467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CCPA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5216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California  ·  2020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Broad opt-out rights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Most comprehensive US state privacy law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3273552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3273552"/>
            <a:ext cx="2651760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33467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VCDPA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19856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Virginia  ·  2023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19856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Narrower opt-out scope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Controllers &amp; processors framework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3273552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273552"/>
            <a:ext cx="2651760" cy="54864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33467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A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54496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Colorado  ·  2023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Opt-in for sensitive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Universal opt-out mechanism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&amp; Technology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Data 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25296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25296"/>
            <a:ext cx="54864" cy="80467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</a:rPr>
              <a:t>HMDA — CFPB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Loan-level mortgage applications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2018–2023 · CA · TX · FL · OH · NY · IL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85416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85416"/>
            <a:ext cx="54864" cy="80467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58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</a:rPr>
              <a:t>FRED Macro Series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328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State unemployment rate, HPI,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30-year fixed mortgage rate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1272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Key Variables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approval_rate  ·  origination_rate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avg_ltv  ·  avg_interest_rate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income_tier  (low / moderate / middle / high)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is_investor_loan  ·  is_california  ·  is_post_ccpa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8046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Data Pipeline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225296"/>
            <a:ext cx="411480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2252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CFPB / FRED APIs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1682496"/>
            <a:ext cx="182880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938528"/>
            <a:ext cx="411480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938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Airflow Ingestion DAGs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395728"/>
            <a:ext cx="182880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651760"/>
            <a:ext cx="4114800" cy="457200"/>
          </a:xfrm>
          <a:prstGeom prst="rect">
            <a:avLst/>
          </a:prstGeom>
          <a:solidFill>
            <a:srgbClr val="0D6EAF"/>
          </a:solidFill>
          <a:ln w="12700">
            <a:solidFill>
              <a:srgbClr val="0D6E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BigQuery Raw Tables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182880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364992"/>
            <a:ext cx="4114800" cy="457200"/>
          </a:xfrm>
          <a:prstGeom prst="rect">
            <a:avLst/>
          </a:prstGeom>
          <a:solidFill>
            <a:srgbClr val="128B6F"/>
          </a:solidFill>
          <a:ln w="12700">
            <a:solidFill>
              <a:srgbClr val="128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3364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dbt Staging → Marts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822192"/>
            <a:ext cx="182880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078224"/>
            <a:ext cx="4114800" cy="4572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40782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 Analytics App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 — 5 Causal Inference Scenarios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All models: HC3 heteroscedasticity-robust OLS  ·  Parallel trends tested  ·  State &amp; year fixed effects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7004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70048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612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16128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 2×2 DiD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69164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CA vs. TX/FL/OH · Pre: 2018–19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Post: 2020–21 · HC3-robust 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7004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670048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612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116128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Staggered DiD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69164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CCPA/VCDPA/CPA cohorts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Callaway &amp; Sant'Anna approximation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7004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43000"/>
            <a:ext cx="2670048" cy="457200"/>
          </a:xfrm>
          <a:prstGeom prst="rect">
            <a:avLst/>
          </a:prstGeom>
          <a:solidFill>
            <a:srgbClr val="0D6EAF"/>
          </a:solidFill>
          <a:ln w="12700">
            <a:solidFill>
              <a:srgbClr val="0D6E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1612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29400" y="116128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Event Study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169164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Dynamic DiD · Leads t−4 to t−2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Lags t0 to t+3 · Pre-trend F-test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2944368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0" y="2944368"/>
            <a:ext cx="3200400" cy="457200"/>
          </a:xfrm>
          <a:prstGeom prst="rect">
            <a:avLst/>
          </a:prstGeom>
          <a:solidFill>
            <a:srgbClr val="128B6F"/>
          </a:solidFill>
          <a:ln w="12700">
            <a:solidFill>
              <a:srgbClr val="128B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29626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29626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Triple DiD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3493008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Investor vs. owner-occupied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CA × Post × InvestorLoan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944368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944368"/>
            <a:ext cx="3200400" cy="4572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9626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40680" y="29626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Interaction DiD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3493008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did × C(income_tier)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Joint F-test of heterogeneity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1 — Standard 2×2 DiD: CA vs. Control States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731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7B4"/>
                </a:solidFill>
              </a:rPr>
              <a:t>Business Question: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04288" y="7315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3A6B"/>
                </a:solidFill>
              </a:rPr>
              <a:t>Does CCPA reduce overall mortgage approval rates in California relative to control states (TX, FL, OH)?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88720"/>
            <a:ext cx="54864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61872"/>
            <a:ext cx="171907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6B"/>
                </a:solidFill>
              </a:rPr>
              <a:t>+3.24 pp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1641348"/>
            <a:ext cx="171907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DiD Estimate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87168" y="11887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1188720"/>
            <a:ext cx="54864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1261872"/>
            <a:ext cx="171907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6B"/>
                </a:solidFill>
              </a:rPr>
              <a:t>p = 0.54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24328" y="1641348"/>
            <a:ext cx="171907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Not sig. at 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11887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188720"/>
            <a:ext cx="54864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1261872"/>
            <a:ext cx="171907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6B"/>
                </a:solidFill>
              </a:rPr>
              <a:t>N = 2,352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45736" y="1641348"/>
            <a:ext cx="171907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9984" y="11887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1188720"/>
            <a:ext cx="54864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1261872"/>
            <a:ext cx="171907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6B"/>
                </a:solidFill>
              </a:rPr>
              <a:t>R² = 0.005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67144" y="1641348"/>
            <a:ext cx="171907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Model fit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15798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</a:rPr>
              <a:t>Parallel Trends: Approval Rate — CA vs. Control Average</a:t>
            </a:r>
            <a:endParaRPr lang="en-US" sz="13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365760" y="2505456"/>
          <a:ext cx="51206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5715000" y="21579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</a:rPr>
              <a:t>OLS Results (HC3-Robust SEs)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2505456"/>
          <a:ext cx="3108960" cy="2331720"/>
        </p:xfrm>
        <a:graphic>
          <a:graphicData uri="http://schemas.openxmlformats.org/drawingml/2006/table">
            <a:tbl>
              <a:tblPr/>
              <a:tblGrid>
                <a:gridCol w="1325880"/>
                <a:gridCol w="1051560"/>
                <a:gridCol w="73152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Coef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p-val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did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+3.24 pp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0.540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treat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+17.45 pp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0.391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post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−2.06 pp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0.798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C(state)[T.OH]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+15.18 pp ***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C(state)[T.TX]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+13.85 pp ***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0.000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C(state)[T.FL]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+14.00 pp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0.139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unemployment_rate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−0.76 pp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0.622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mortgage_rate_30yr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−4.86 pp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0.190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AF0FA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0" y="4663440"/>
            <a:ext cx="201168" cy="4800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92608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7B4"/>
                </a:solidFill>
              </a:rPr>
              <a:t>Conclusion: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481328" y="4663440"/>
            <a:ext cx="7479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6B"/>
                </a:solidFill>
              </a:rPr>
              <a:t>No statistically significant aggregate effect of CCPA on approval rates (DiD = +3.24 pp, p = 0.54). Lenders appear to have adapted without restricting overall credit access in California.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2 — Staggered DiD: Multi-State Privacy Law Rollout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731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7B4"/>
                </a:solidFill>
              </a:rPr>
              <a:t>Business Question: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04288" y="7315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3A6B"/>
                </a:solidFill>
              </a:rPr>
              <a:t>Do CCPA, VCDPA, and CPA each reduce mortgage approval rates in their respective states — and do effects persist over time?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Callaway &amp; Sant'Anna approximation  ·  Cohort-specific 2×2 DiD  ·  Never-treated states (TX, FL, OH) as controls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481328"/>
            <a:ext cx="2743200" cy="457200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4996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15568" y="1499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CCPA  ·  2020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19842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3+ post-law years (2020–2023).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Most precise ATT estimate.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Broad opt-out reduces data signals.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14813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481328"/>
            <a:ext cx="274320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4996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041648" y="1499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VCDPA  ·  2023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01568" y="19842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~1 post-law year available.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CI is wide — not yet conclusive.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Narrower opt-out scope than CCPA.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4813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481328"/>
            <a:ext cx="2743200" cy="4572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14996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67728" y="1499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CPA  ·  2023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7648" y="19842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~1 post-law year available.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CI is wide — not yet conclusive.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Opt-in model for sensitive data.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31638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</a:rPr>
              <a:t>Cohort ATT — Approval Rate (percentage points)</a:t>
            </a:r>
            <a:endParaRPr lang="en-US" sz="13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365760" y="3511296"/>
          <a:ext cx="502920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5669280" y="3163824"/>
            <a:ext cx="3200400" cy="1783080"/>
          </a:xfrm>
          <a:prstGeom prst="rect">
            <a:avLst/>
          </a:prstGeom>
          <a:solidFill>
            <a:srgbClr val="D6E4F0"/>
          </a:solidFill>
          <a:ln w="12700">
            <a:solidFill>
              <a:srgbClr val="1F77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806440" y="3255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</a:rPr>
              <a:t>Key Interpretation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806440" y="3566160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CA (CCPA):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Most reliable — 3+ years of post-law data.
</a:t>
            </a:r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VA &amp; CO: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Only 1 year of post-law data. Very wide CIs — not yet conclusive.
</a:t>
            </a:r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Next step: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Rerun with 2024–2025 HMDA vintages.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AF0FA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0" y="4663440"/>
            <a:ext cx="201168" cy="4800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2608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7B4"/>
                </a:solidFill>
              </a:rPr>
              <a:t>Conclusion: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481328" y="4663440"/>
            <a:ext cx="7479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6B"/>
                </a:solidFill>
              </a:rPr>
              <a:t>CA (CCPA) shows a positive directional ATT — no adverse approval rate effect detected. VA and CO results are inconclusive with only 1 post-law year of data; requires 2024–2025 HMDA vintages to confirm.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3 — Event Study: Timing of Lender Behaviour Change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731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7B4"/>
                </a:solidFill>
              </a:rPr>
              <a:t>Business Question: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04288" y="7315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3A6B"/>
                </a:solidFill>
              </a:rPr>
              <a:t>When did lenders change their behaviour relative to CCPA's enactment — and did approval rates trend differently before the law?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Dynamic DiD  ·  Leads t−4 to t−2  ·  Lags t0 to t+3  ·  Reference: t = −1 (omitted)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</a:rPr>
              <a:t>Event Study Coefficient Plot — Approval Rate (CA vs. Control)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65760" y="1792224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897880" y="1463040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97880" y="1463040"/>
            <a:ext cx="54864" cy="804672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152704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Pre-trend F-test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181051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Tests whether β coefficients before enactment (t &lt; −1) are jointly zero. Validates parallel trends.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97880" y="2377440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97880" y="2377440"/>
            <a:ext cx="54864" cy="80467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244144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Timing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35040" y="272491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 break at t=0 or t+1 means lenders adjusted underwriting close to CCPA effective date.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97880" y="3291840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97880" y="3291840"/>
            <a:ext cx="54864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335584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Persistence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35040" y="363931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Positive lags (t+2, t+3) confirm a lasting effect — not just a one-time compliance adjustment.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65760" y="42793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Pre-law coefficients near zero (t−4 to t−2) support the parallel trends assumption required for causal identification.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AF7EE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663440"/>
            <a:ext cx="201168" cy="48006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2608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A02C"/>
                </a:solidFill>
              </a:rPr>
              <a:t>Conclusion: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481328" y="4663440"/>
            <a:ext cx="7479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6B3A"/>
                </a:solidFill>
              </a:rPr>
              <a:t>Parallel trends assumption holds (pre-law coefficients near zero). Post-law coefficients trend positive — no adverse timing effect at CCPA enactment; lender adaptation appears gradual rather than abrupt.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4 — Triple DiD: Investor vs. Owner-Occupied Loans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731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7B4"/>
                </a:solidFill>
              </a:rPr>
              <a:t>Business Question: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04288" y="7315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3A6B"/>
                </a:solidFill>
              </a:rPr>
              <a:t>Does CCPA disproportionately restrict underwriting for investor loans relative to owner-occupied loans — isolating the data-broker channel?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70432"/>
            <a:ext cx="8412480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17043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approval_rate  ~  CA × Post × InvestorLoan  +  CA × Post  +  covariates  +  C(state_code)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9385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Mechanism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3931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04288"/>
            <a:ext cx="54864" cy="1024128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68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Owner-Occupied Loans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651760"/>
            <a:ext cx="3730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Long credit histories and stable income docs. Less reliant on third-party data broker signals for underwriting decisions.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3931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493008"/>
            <a:ext cx="54864" cy="1024128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5701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Investor / Non-Owner Loans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840480"/>
            <a:ext cx="3730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Rental income projections and property valuations depend heavily on data broker inputs — more exposed to CCPA data restrictions.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19385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Triple DiD Coefficient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17720" y="230428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304288"/>
            <a:ext cx="54864" cy="11887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36829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Key Term: CA × Post × InvestorLoan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651760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 significant negative coefficient means CCPA tightened underwriting specifically for investor loans in CA relative to owner-occupied loans and relative to control states — isolating the data-broker channel.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584448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584448"/>
            <a:ext cx="54864" cy="1207008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64845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Why This Matters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931920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If investor loans show a differential negative ATT: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CCPA restricts data-driven underwriting signals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Lenders become more conservative on non-standard loans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Real estate investment activity may slow in treated states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FF8EC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663440"/>
            <a:ext cx="201168" cy="480060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F0E"/>
                </a:solidFill>
              </a:rPr>
              <a:t>Conclusion: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81328" y="4663440"/>
            <a:ext cx="7479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A00"/>
                </a:solidFill>
              </a:rPr>
              <a:t>Investor loan channel not yet tested definitively — requires loan-level HMDA microdata. If the CA × Post × InvestorLoan term is significantly negative, CCPA tightens data-driven underwriting for non-owner-occupied properties.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5 — Income Tier Heterogeneity (Interaction DiD)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731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7B4"/>
                </a:solidFill>
              </a:rPr>
              <a:t>Business Question: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04288" y="7315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3A6B"/>
                </a:solidFill>
              </a:rPr>
              <a:t>Does the lending impact of CCPA fall disproportionately on lower-income borrowers — widening the credit-access gap by income?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Model: did × C(income_tier)  ·  High-income as reference  ·  Joint F-test of heterogeneity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</a:rPr>
              <a:t>Absolute ATT by FFIEC Income Tier (pp)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65760" y="1792224"/>
          <a:ext cx="49377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577840" y="1463040"/>
            <a:ext cx="3200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463040"/>
            <a:ext cx="54864" cy="1078992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1536192"/>
            <a:ext cx="29992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6B"/>
                </a:solidFill>
              </a:rPr>
              <a:t>−2.53 pp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15000" y="2056486"/>
            <a:ext cx="2999232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Low vs. High disparity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15000" y="2110435"/>
            <a:ext cx="29260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Low-income receive 2.53 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less benefit than high-income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2670048"/>
            <a:ext cx="3200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2670048"/>
            <a:ext cx="54864" cy="10789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2743200"/>
            <a:ext cx="29992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6B"/>
                </a:solidFill>
              </a:rPr>
              <a:t>F = 0.11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715000" y="3263494"/>
            <a:ext cx="2999232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Joint heterogeneity F-test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15000" y="3317443"/>
            <a:ext cx="29260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 = 0.95 — no statistically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significant heterogeneity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77840" y="3877056"/>
            <a:ext cx="3200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3877056"/>
            <a:ext cx="54864" cy="10789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15000" y="3950208"/>
            <a:ext cx="29992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6B"/>
                </a:solidFill>
              </a:rPr>
              <a:t>N = 2,352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715000" y="4470502"/>
            <a:ext cx="2999232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Observations (pooled)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15000" y="4524451"/>
            <a:ext cx="29260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Aggregated panel limits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statistical power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65760" y="4279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Direction consistent with policy concern: low-income borrowers receive less benefit. Wide CIs reflect aggregated state×year panel — individual loan-level data needed for definitive inference.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FF8EC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0" y="4663440"/>
            <a:ext cx="201168" cy="480060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2608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F0E"/>
                </a:solidFill>
              </a:rPr>
              <a:t>Conclusion: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481328" y="4663440"/>
            <a:ext cx="7479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4A00"/>
                </a:solidFill>
              </a:rPr>
              <a:t>Directional evidence: low-income borrowers receive 2.53 pp less benefit than high-income (+1.32 pp vs +3.85 pp). Not statistically significant (F = 0.11, p = 0.95) — aggregated panel data lacks power. Warrants individual loan-level replication.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Findings &amp; Limitations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9377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32120" y="749808"/>
            <a:ext cx="3337560" cy="347472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32120" y="7498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937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54864" cy="89611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8016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 statistically significant aggregate CCPA effect on approval rates (DiD = +3.24 pp, p = 0.54). Lenders appear to have adapted without restricting aggregate credit.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937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94560"/>
            <a:ext cx="54864" cy="89611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8600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Low-income borrowers receive less benefit (+1.32 pp) vs. high-income (+3.85 pp) — a directional −2.53 pp disparity, though not significant at 5% with available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937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00400"/>
            <a:ext cx="54864" cy="89611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9184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Investor loan channel (Triple DiD) warrants deeper investigation — data brokers are more critical for non-owner-occupied underwriting.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4937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4206240"/>
            <a:ext cx="54864" cy="89611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9768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VA and CO (2023 laws) need 2–3 more years of HMDA data before cohort ATTs are estimable with meaningful precision.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1188720"/>
            <a:ext cx="3337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188720"/>
            <a:ext cx="54864" cy="896112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28016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Aggregated state × year panel data severely limits statistical power for heterogeneity detection.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2194560"/>
            <a:ext cx="3337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32120" y="2194560"/>
            <a:ext cx="54864" cy="896112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28600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Only 1 post-law year for VA (VCDPA) and CO (CPA) — too few observations for robust ATT estimation.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32120" y="3200400"/>
            <a:ext cx="3337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32120" y="3200400"/>
            <a:ext cx="54864" cy="896112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329184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Approval rate is a noisy proxy: loan withdrawal, pre-qualification denials, and pricing are not captured.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32120" y="4206240"/>
            <a:ext cx="3337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4206240"/>
            <a:ext cx="54864" cy="896112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42976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Potential confounders: COVID-19 shock (2020), Federal Reserve rate cycle, overlapping state housing policies.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Policy Implications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2062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20624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877824"/>
            <a:ext cx="329184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77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8778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Limited Aggregate Impact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CCPA as designed appears to have limited measurable effect on aggregate mortgage approval rates. Lenders may have adapted data practices without meaningfully restricting credit decisions at the portfolio level.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42062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822960"/>
            <a:ext cx="4206240" cy="457200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0328" y="877824"/>
            <a:ext cx="329184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877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728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0952" y="8778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Fair-Lending Concern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371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Thin-file, low-income borrowers rely more on third-party data signals than prime borrowers with long credit histories. CCPA restrictions may widen the credit-access gap by income — without any discriminatory intent. Warrants CRA-level monitoring.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2062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420624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889504"/>
            <a:ext cx="329184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77B4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28895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Investor Market Exposure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3832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investor loan channel is more exposed to data-broker restrictions. A significant Triple DiD coefficient would indicate CCPA is cooling real estate investment activity in treated states by tightening data-driven underwriting.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834640"/>
            <a:ext cx="42062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834640"/>
            <a:ext cx="4206240" cy="4572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0328" y="2889504"/>
            <a:ext cx="329184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A02C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30952" y="28895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Recommended Next Steps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3832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Rerun with individual loan-level HMDA microdata (not aggregated). Add 2024–2025 HMDA vintages for VA/CO. Supplement with lender survey data on data-broker usage changes post-CCPA enactment.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A1A35"/>
          </a:solidFill>
          <a:ln w="12700">
            <a:solidFill>
              <a:srgbClr val="0A1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2304288"/>
            <a:ext cx="3657600" cy="36576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4871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4F0"/>
                </a:solidFill>
              </a:rPr>
              <a:t>Platform:  </a:t>
            </a:r>
            <a:pPr algn="ctr" indent="0" marL="0">
              <a:buNone/>
            </a:pPr>
            <a:r>
              <a:rPr lang="en-US" sz="1300" dirty="0">
                <a:solidFill>
                  <a:srgbClr val="AABBD0"/>
                </a:solidFill>
              </a:rPr>
              <a:t>FinLens Mortgage Analytics &amp; Privacy Law Impact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4F0"/>
                </a:solidFill>
              </a:rPr>
              <a:t>Data:  </a:t>
            </a:r>
            <a:pPr algn="ctr" indent="0" marL="0">
              <a:buNone/>
            </a:pPr>
            <a:r>
              <a:rPr lang="en-US" sz="1300" dirty="0">
                <a:solidFill>
                  <a:srgbClr val="AABBD0"/>
                </a:solidFill>
              </a:rPr>
              <a:t>HMDA (CFPB) 2018–2023  +  FRED Macro Controls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1821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4F0"/>
                </a:solidFill>
              </a:rPr>
              <a:t>States:  </a:t>
            </a:r>
            <a:pPr algn="ctr" indent="0" marL="0">
              <a:buNone/>
            </a:pPr>
            <a:r>
              <a:rPr lang="en-US" sz="1300" dirty="0">
                <a:solidFill>
                  <a:srgbClr val="AABBD0"/>
                </a:solidFill>
              </a:rPr>
              <a:t>CA · TX · FL · OH · NY · 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5295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4F0"/>
                </a:solidFill>
              </a:rPr>
              <a:t>Stack:  </a:t>
            </a:r>
            <a:pPr algn="ctr" indent="0" marL="0">
              <a:buNone/>
            </a:pPr>
            <a:r>
              <a:rPr lang="en-US" sz="1300" dirty="0">
                <a:solidFill>
                  <a:srgbClr val="AABBD0"/>
                </a:solidFill>
              </a:rPr>
              <a:t>BigQuery · dbt · Airflow · Streamlit · Python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87705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0"/>
                </a:solidFill>
              </a:rPr>
              <a:t>Demo:  </a:t>
            </a:r>
            <a:pPr algn="ctr" indent="0" marL="0">
              <a:buNone/>
            </a:pPr>
            <a:r>
              <a:rPr lang="en-US" sz="1100" u="sng" dirty="0">
                <a:solidFill>
                  <a:srgbClr val="1F77B4"/>
                </a:solidFill>
              </a:rPr>
              <a:t>https://finlens-app-360526413047.us-central1.run.app/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79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FinLens  ·  Privacy Law Impact Study  ·  HMDA 2018–2023  ·  Causal Inference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GCP Free Tier — What FinLens Gets for Free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498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🎁  New GCP Account: $300 credit  ·  90 days  ·  All services unlocked  ·  No charge until credit is exhausted or trial ends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5029200" cy="347472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✓  ALWAYS FREE  (permanent — no expiry)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965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BigQuery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81328" y="1965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10 GB storage  +  1 TB queries / month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38144" y="196596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A02C"/>
                </a:solidFill>
              </a:rPr>
              <a:t>Covers entire FinLens mart permanently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502920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313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Cloud Run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81328" y="2313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2 million requests / month  +  360,000 GB-sec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38144" y="23134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A02C"/>
                </a:solidFill>
              </a:rPr>
              <a:t>Streamlit app runs free at low traffic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6609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Cloud Storage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81328" y="26609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5 GB storage  +  1 GB egress / month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38144" y="266090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A02C"/>
                </a:solidFill>
              </a:rPr>
              <a:t>Parquet mart files fit in free tier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80944"/>
            <a:ext cx="502920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008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Cloud Build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81328" y="30083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120 build-minutes / day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38144" y="300837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A02C"/>
                </a:solidFill>
              </a:rPr>
              <a:t>CI/CD pipeline costs nothing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3558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Cloud Scheduler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481328" y="3355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3 jobs / month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38144" y="33558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A02C"/>
                </a:solidFill>
              </a:rPr>
              <a:t>Covers HMDA + FRED + dbt schedules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502920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703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Secret Manager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481328" y="3703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6 active secret versions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38144" y="37033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A02C"/>
                </a:solidFill>
              </a:rPr>
              <a:t>SA key + 3 API keys — all free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023360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0507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</a:rPr>
              <a:t>Artifact Registry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481328" y="40507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0.5 GB storage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38144" y="405079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A02C"/>
                </a:solidFill>
              </a:rPr>
              <a:t>Docker image fits under limit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32120" y="1508760"/>
            <a:ext cx="33375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15087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⏱  90-DAY TRIAL  ($300 credit)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32120" y="1938528"/>
            <a:ext cx="3337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32120" y="1938528"/>
            <a:ext cx="54864" cy="786384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19933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</a:rPr>
              <a:t>Cloud Composer  —  ~$150/mo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50992" y="232257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Biggest spend — use trial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to validate pipeline first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32120" y="2798064"/>
            <a:ext cx="3337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532120" y="2798064"/>
            <a:ext cx="54864" cy="786384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50992" y="285292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</a:rPr>
              <a:t>Cloud SQL / VM  —  ~$10–30/mo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50992" y="318211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Only if you need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persistent DB server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32120" y="3657600"/>
            <a:ext cx="3337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532120" y="3657600"/>
            <a:ext cx="54864" cy="786384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50992" y="371246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</a:rPr>
              <a:t>Load Balancer  —  ~$18/mo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650992" y="404164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Only needed 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custom domain + SSL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532120" y="4517136"/>
            <a:ext cx="3337560" cy="566928"/>
          </a:xfrm>
          <a:prstGeom prst="rect">
            <a:avLst/>
          </a:prstGeom>
          <a:solidFill>
            <a:srgbClr val="D6E4F0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54456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A6B"/>
                </a:solidFill>
              </a:rPr>
              <a:t>Strategy: use $300 trial to prototype Cloud Composer + full pipeline. Replace Composer with Cloud Scheduler after 90 days → drop to $11/month permanently.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44622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Projected monthly cost after free trial: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700016"/>
            <a:ext cx="4983480" cy="128016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4846320"/>
            <a:ext cx="4983480" cy="128016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4992624"/>
            <a:ext cx="4983480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4681728"/>
            <a:ext cx="109728" cy="109728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66344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Month 1–3  (Trial)  →  $0 — fully covered by $300 credit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4828032"/>
            <a:ext cx="109728" cy="10972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80974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Month 4+  (DuckDB + GCS)  →  ~$11 / month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4974336"/>
            <a:ext cx="10972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956048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Month 4+  (BigQuery)  →  ~$15 / month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Deployment Architecture — Google Cloud + Streamlit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Production-grade pipeline: ingestion → transformation → analytics app, fully hosted on GCP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600200" cy="420624"/>
          </a:xfrm>
          <a:prstGeom prst="rect">
            <a:avLst/>
          </a:prstGeom>
          <a:solidFill>
            <a:srgbClr val="34568B"/>
          </a:solidFill>
          <a:ln w="12700">
            <a:solidFill>
              <a:srgbClr val="3456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9728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① Data Sources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CFPB HMDA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FRED Macro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92808" y="2066544"/>
            <a:ext cx="155448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09728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097280"/>
            <a:ext cx="1600200" cy="420624"/>
          </a:xfrm>
          <a:prstGeom prst="rect">
            <a:avLst/>
          </a:prstGeom>
          <a:solidFill>
            <a:srgbClr val="0D6EAF"/>
          </a:solidFill>
          <a:ln w="12700">
            <a:solidFill>
              <a:srgbClr val="0D6E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0552" y="109728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② Ingestion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48840" y="1591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Cloud Composer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202996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(Airflow DAGs)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4688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Cloud Scheduler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75888" y="2066544"/>
            <a:ext cx="155448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109728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1097280"/>
            <a:ext cx="1600200" cy="42062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3632" y="109728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③ Storage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31920" y="1591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BigQuery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202996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Raw + Staging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24688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Datasets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58968" y="2066544"/>
            <a:ext cx="155448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109728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23560" y="1097280"/>
            <a:ext cx="1600200" cy="420624"/>
          </a:xfrm>
          <a:prstGeom prst="rect">
            <a:avLst/>
          </a:prstGeom>
          <a:solidFill>
            <a:srgbClr val="128B6F"/>
          </a:solidFill>
          <a:ln w="12700">
            <a:solidFill>
              <a:srgbClr val="128B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96712" y="109728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④ Transform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15000" y="1591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dbt 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202996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Staging → Marts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24688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Data quality tests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42048" y="2066544"/>
            <a:ext cx="155448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1097280"/>
            <a:ext cx="1463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06640" y="1097280"/>
            <a:ext cx="1463040" cy="420624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10972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⑤ Serve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98080" y="15910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Cloud Run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20299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Streamlit App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24688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HTTPS endpoint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</a:rPr>
              <a:t>GCP Services used in this deployment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3657600"/>
            <a:ext cx="16276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657600"/>
            <a:ext cx="1627632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307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BigQuery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02336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Petabyte-scale analytical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data warehouse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29968" y="3657600"/>
            <a:ext cx="16276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029968" y="3657600"/>
            <a:ext cx="1627632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21408" y="37307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Cloud Composer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121408" y="402336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Managed Apache Airflow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for pipeline orchestration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85616" y="3657600"/>
            <a:ext cx="16276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785616" y="3657600"/>
            <a:ext cx="1627632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77056" y="37307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Cloud Run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77056" y="402336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Serverless containers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for Streamlit app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41264" y="3657600"/>
            <a:ext cx="16276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541264" y="3657600"/>
            <a:ext cx="1627632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32704" y="37307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Artifact Registry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32704" y="402336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Docker image registry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for app containers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296912" y="3657600"/>
            <a:ext cx="16276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296912" y="3657600"/>
            <a:ext cx="1627632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88352" y="37307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Secret Manager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88352" y="402336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API keys &amp; 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account credentials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Google Cloud — Step-by-Step Deployment Protocol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206240" cy="4023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" y="841248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 &amp; IAM Setup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128016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gcloud projects create finlens-prod --name="FinLens"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2336" y="166420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Enable APIs: BigQuery, Cloud Run, Composer, Artifact Registry, Secret Manager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2336" y="2048256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Create service account: finlens-sa@finlens-prod.iam.gserviceaccount.com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243230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Grant roles: BigQuery Admin · Composer Worker · Run Admin · Artifact Registry Writer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4206240" cy="402336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229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02936" y="841248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BigQuery — Raw &amp; Mart Datasets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37176" y="128016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bq mk --location=US finlens_raw       # HMDA + FRED raw tables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bq mk --location=US finlens_staging    # dbt staging models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37176" y="2048256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bq mk --location=US finlens_mart       # analytics-ready marts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37176" y="243230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Load HMDA partition table: hmda_applications (partitioned by activity_year)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90672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90672"/>
            <a:ext cx="4206240" cy="402336"/>
          </a:xfrm>
          <a:prstGeom prst="rect">
            <a:avLst/>
          </a:prstGeom>
          <a:solidFill>
            <a:srgbClr val="128B6F"/>
          </a:solidFill>
          <a:ln w="12700">
            <a:solidFill>
              <a:srgbClr val="128B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089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" y="3127248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dbt Core — Transformation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" y="356616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pip install dbt-bigquery &amp;&amp; dbt init finlens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2336" y="395020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Configure profiles.yml → BigQuery OAuth / service account keyfile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2336" y="4334256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dbt deps  →  dbt run  →  dbt test   (run in CI on each push)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2336" y="471830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Schedule via Cloud Composer DAG: dbt_run_daily (0 6 * * *)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090672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090672"/>
            <a:ext cx="4206240" cy="402336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1089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02936" y="3127248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Composer — Airflow Orchestration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37176" y="356616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gcloud composer environments create finlens-composer --location=us-central1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37176" y="395020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Upload DAGs: hmda_ingest_dag.py · fred_ingest_dag.py · dbt_run_dag.py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37176" y="4334256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Set Airflow Variables: BQ_PROJECT · DBT_TARGET · HMDA_API_KEY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37176" y="471830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Trigger schedule: HMDA ingestion weekly · FRED daily · dbt after ingestion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Streamlit App — Cloud Run Deployment Protocol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846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84632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22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  Containerise the App (Dockerfile)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170432"/>
            <a:ext cx="47183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 &amp;&amp; RUN pip install -r requirements.txt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 &amp;&amp; EXPOSE 8080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["streamlit","run","app/finlens_app.py","--server.port=8080","--server.address=0.0.0.0"]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2121408"/>
            <a:ext cx="4846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21408"/>
            <a:ext cx="4846320" cy="32918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1396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  Build &amp; Push to Artifact Registry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487168"/>
            <a:ext cx="47183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IMAGE=us-central1-docker.pkg.dev/finlens-prod/finlens-repo/finlens-app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auth configure-docker us-central1-docker.pkg.dev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$IMAGE:latest 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 $IMAGE:latest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3438144"/>
            <a:ext cx="4846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438144"/>
            <a:ext cx="4846320" cy="329184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3456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  Deploy to Cloud Run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3803904"/>
            <a:ext cx="47183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run deploy finlens-app --image $IMAGE:latest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--platform managed --region us-central1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--allow-unauthenticated --memory 2Gi --cpu 2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--min-instances 1 --port 8080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--set-secrets GOOGLE_APPLICATION_CREDENTIALS=finlens-sa-key:latest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49240" y="804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</a:rPr>
              <a:t>Deployment Checklist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152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A02C"/>
                </a:solidFill>
              </a:rPr>
              <a:t>✓  Service account key stored in Secret Manager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49240" y="1536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A02C"/>
                </a:solidFill>
              </a:rPr>
              <a:t>✓  GOOGLE_APPLICATION_CREDENTIALS set as env var in Cloud Run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49240" y="1920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A02C"/>
                </a:solidFill>
              </a:rPr>
              <a:t>✓  BigQuery dataset permissions granted to service account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4924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○  Cloud Run min-instances = 1 (avoid cold start)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49240" y="26883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○  Custom domain mapped via Cloud Run domain mapping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49240" y="30723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○  Cloud Armor WAF policy attached (for public endpoints)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49240" y="3456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○  Budget alert: $50/month threshold set in GCP Billing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49240" y="3858768"/>
            <a:ext cx="3566160" cy="1024128"/>
          </a:xfrm>
          <a:prstGeom prst="rect">
            <a:avLst/>
          </a:prstGeom>
          <a:solidFill>
            <a:srgbClr val="D6E4F0"/>
          </a:solidFill>
          <a:ln w="12700">
            <a:solidFill>
              <a:srgbClr val="1F77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0" y="3931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</a:rPr>
              <a:t>Alternative: Streamlit Community Cloud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420624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Free tier · Connect GitHub repo · No Docker needed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Limited to public repos · No BigQuery IAM control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Best for prototypes — use Cloud Run for production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FinLens: Mortgage Analytics &amp; Privacy Law Impact</dc:title>
  <dc:subject>PptxGenJS Presentation</dc:subject>
  <dc:creator>FinLens</dc:creator>
  <cp:lastModifiedBy>FinLens</cp:lastModifiedBy>
  <cp:revision>1</cp:revision>
  <dcterms:created xsi:type="dcterms:W3CDTF">2026-06-15T22:30:33Z</dcterms:created>
  <dcterms:modified xsi:type="dcterms:W3CDTF">2026-06-15T22:30:33Z</dcterms:modified>
</cp:coreProperties>
</file>